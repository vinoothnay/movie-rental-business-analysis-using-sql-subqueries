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Rentals</c:v>
                </c:pt>
              </c:strCache>
            </c:strRef>
          </c:tx>
          <c:spPr>
            <a:solidFill>
              <a:srgbClr val="376092"/>
            </a:solidFill>
          </c:spPr>
          <c:cat>
            <c:strRef>
              <c:f>Sheet1!$A$2:$A$11</c:f>
              <c:strCache>
                <c:ptCount val="10"/>
                <c:pt idx="0">
                  <c:v>ZORRO ARK</c:v>
                </c:pt>
                <c:pt idx="1">
                  <c:v>ROBBERS JOON</c:v>
                </c:pt>
                <c:pt idx="2">
                  <c:v>HOBBIT ALIEN</c:v>
                </c:pt>
                <c:pt idx="3">
                  <c:v>FORWARD TEMPLE</c:v>
                </c:pt>
                <c:pt idx="4">
                  <c:v>JUGGLER HARDLY</c:v>
                </c:pt>
                <c:pt idx="5">
                  <c:v>SCALAWAG DUCK</c:v>
                </c:pt>
                <c:pt idx="6">
                  <c:v>GRIT CLOCKWORK</c:v>
                </c:pt>
                <c:pt idx="7">
                  <c:v>RIDGEMONT SUBMARINE</c:v>
                </c:pt>
                <c:pt idx="8">
                  <c:v>ROCKETEER MOTHER</c:v>
                </c:pt>
                <c:pt idx="9">
                  <c:v>BUCKET BROTHERHOOD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31</c:v>
                </c:pt>
                <c:pt idx="1">
                  <c:v>31</c:v>
                </c:pt>
                <c:pt idx="2">
                  <c:v>31</c:v>
                </c:pt>
                <c:pt idx="3">
                  <c:v>32</c:v>
                </c:pt>
                <c:pt idx="4">
                  <c:v>32</c:v>
                </c:pt>
                <c:pt idx="5">
                  <c:v>32</c:v>
                </c:pt>
                <c:pt idx="6">
                  <c:v>32</c:v>
                </c:pt>
                <c:pt idx="7">
                  <c:v>32</c:v>
                </c:pt>
                <c:pt idx="8">
                  <c:v>33</c:v>
                </c:pt>
                <c:pt idx="9">
                  <c:v>34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376092"/>
            </a:solidFill>
          </c:spPr>
          <c:cat>
            <c:strRef>
              <c:f>Sheet1!$A$2:$A$17</c:f>
              <c:strCache>
                <c:ptCount val="16"/>
                <c:pt idx="0">
                  <c:v>Sports</c:v>
                </c:pt>
                <c:pt idx="1">
                  <c:v>Sci-Fi</c:v>
                </c:pt>
                <c:pt idx="2">
                  <c:v>Animation</c:v>
                </c:pt>
                <c:pt idx="3">
                  <c:v>Drama</c:v>
                </c:pt>
                <c:pt idx="4">
                  <c:v>Comedy</c:v>
                </c:pt>
                <c:pt idx="5">
                  <c:v>Action</c:v>
                </c:pt>
                <c:pt idx="6">
                  <c:v>New</c:v>
                </c:pt>
                <c:pt idx="7">
                  <c:v>Games</c:v>
                </c:pt>
                <c:pt idx="8">
                  <c:v>Foreign</c:v>
                </c:pt>
                <c:pt idx="9">
                  <c:v>Family</c:v>
                </c:pt>
                <c:pt idx="10">
                  <c:v>Documentary</c:v>
                </c:pt>
                <c:pt idx="11">
                  <c:v>Horror</c:v>
                </c:pt>
                <c:pt idx="12">
                  <c:v>Children</c:v>
                </c:pt>
                <c:pt idx="13">
                  <c:v>Classics</c:v>
                </c:pt>
                <c:pt idx="14">
                  <c:v>Travel</c:v>
                </c:pt>
                <c:pt idx="15">
                  <c:v>Music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5314.21</c:v>
                </c:pt>
                <c:pt idx="1">
                  <c:v>4756.98</c:v>
                </c:pt>
                <c:pt idx="2">
                  <c:v>4656.3</c:v>
                </c:pt>
                <c:pt idx="3">
                  <c:v>4587.39</c:v>
                </c:pt>
                <c:pt idx="4">
                  <c:v>4383.58</c:v>
                </c:pt>
                <c:pt idx="5">
                  <c:v>4375.85</c:v>
                </c:pt>
                <c:pt idx="6">
                  <c:v>4351.62</c:v>
                </c:pt>
                <c:pt idx="7">
                  <c:v>4281.33</c:v>
                </c:pt>
                <c:pt idx="8">
                  <c:v>4270.67</c:v>
                </c:pt>
                <c:pt idx="9">
                  <c:v>4226.07</c:v>
                </c:pt>
                <c:pt idx="10">
                  <c:v>4217.52</c:v>
                </c:pt>
                <c:pt idx="11">
                  <c:v>3722.54</c:v>
                </c:pt>
                <c:pt idx="12">
                  <c:v>3655.55</c:v>
                </c:pt>
                <c:pt idx="13">
                  <c:v>3639.59</c:v>
                </c:pt>
                <c:pt idx="14">
                  <c:v>3549.64</c:v>
                </c:pt>
                <c:pt idx="15">
                  <c:v>3417.72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%</c:v>
                </c:pt>
              </c:strCache>
            </c:strRef>
          </c:tx>
          <c:cat>
            <c:strRef>
              <c:f>Sheet1!$A$2:$A$17</c:f>
              <c:strCache>
                <c:ptCount val="16"/>
                <c:pt idx="0">
                  <c:v>Sports</c:v>
                </c:pt>
                <c:pt idx="1">
                  <c:v>Sci-Fi</c:v>
                </c:pt>
                <c:pt idx="2">
                  <c:v>Animation</c:v>
                </c:pt>
                <c:pt idx="3">
                  <c:v>Drama</c:v>
                </c:pt>
                <c:pt idx="4">
                  <c:v>Comedy</c:v>
                </c:pt>
                <c:pt idx="5">
                  <c:v>Action</c:v>
                </c:pt>
                <c:pt idx="6">
                  <c:v>New</c:v>
                </c:pt>
                <c:pt idx="7">
                  <c:v>Games</c:v>
                </c:pt>
                <c:pt idx="8">
                  <c:v>Foreign</c:v>
                </c:pt>
                <c:pt idx="9">
                  <c:v>Family</c:v>
                </c:pt>
                <c:pt idx="10">
                  <c:v>Documentary</c:v>
                </c:pt>
                <c:pt idx="11">
                  <c:v>Horror</c:v>
                </c:pt>
                <c:pt idx="12">
                  <c:v>Children</c:v>
                </c:pt>
                <c:pt idx="13">
                  <c:v>Classics</c:v>
                </c:pt>
                <c:pt idx="14">
                  <c:v>Travel</c:v>
                </c:pt>
                <c:pt idx="15">
                  <c:v>Music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7.88</c:v>
                </c:pt>
                <c:pt idx="1">
                  <c:v>14.94</c:v>
                </c:pt>
                <c:pt idx="2">
                  <c:v>21.85</c:v>
                </c:pt>
                <c:pt idx="3">
                  <c:v>28.66</c:v>
                </c:pt>
                <c:pt idx="4">
                  <c:v>35.16</c:v>
                </c:pt>
                <c:pt idx="5">
                  <c:v>41.65</c:v>
                </c:pt>
                <c:pt idx="6">
                  <c:v>48.11</c:v>
                </c:pt>
                <c:pt idx="7">
                  <c:v>54.46</c:v>
                </c:pt>
                <c:pt idx="8">
                  <c:v>60.8</c:v>
                </c:pt>
                <c:pt idx="9">
                  <c:v>67.07</c:v>
                </c:pt>
                <c:pt idx="10">
                  <c:v>73.33</c:v>
                </c:pt>
                <c:pt idx="11">
                  <c:v>78.85</c:v>
                </c:pt>
                <c:pt idx="12">
                  <c:v>84.27</c:v>
                </c:pt>
                <c:pt idx="13">
                  <c:v>89.67</c:v>
                </c:pt>
                <c:pt idx="14">
                  <c:v>94.94</c:v>
                </c:pt>
                <c:pt idx="15">
                  <c:v>100.00999999999999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Movie Rental Business Analysis</a:t>
            </a:r>
          </a:p>
          <a:p>
            <a:pPr>
              <a:defRPr sz="1900">
                <a:solidFill>
                  <a:srgbClr val="DCE6F0"/>
                </a:solidFill>
              </a:defRPr>
            </a:pPr>
            <a:r>
              <a:t>SQL &amp; Excel Analysis using the Sakila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8404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Key Findings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51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</a:defRPr>
            </a:pPr>
            <a:r>
              <a:t>Business questions answered through SQL analysis and Excel visualization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46888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sz="1100" b="1">
                <a:solidFill>
                  <a:srgbClr val="5F6973"/>
                </a:solidFill>
              </a:defRPr>
            </a:pPr>
            <a:r>
              <a:t>TOTAL STORE REVENUE</a:t>
            </a:r>
          </a:p>
          <a:p>
            <a:pPr>
              <a:defRPr sz="2200" b="1">
                <a:solidFill>
                  <a:srgbClr val="376092"/>
                </a:solidFill>
              </a:defRPr>
            </a:pPr>
            <a:r>
              <a:t>$67,406.56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371600"/>
            <a:ext cx="246888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sz="1100" b="1">
                <a:solidFill>
                  <a:srgbClr val="5F6973"/>
                </a:solidFill>
              </a:defRPr>
            </a:pPr>
            <a:r>
              <a:t>AVG CUSTOMER SPEND</a:t>
            </a:r>
          </a:p>
          <a:p>
            <a:pPr>
              <a:defRPr sz="2200" b="1">
                <a:solidFill>
                  <a:srgbClr val="376092"/>
                </a:solidFill>
              </a:defRPr>
            </a:pPr>
            <a:r>
              <a:t>$112.53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246888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sz="1100" b="1">
                <a:solidFill>
                  <a:srgbClr val="5F6973"/>
                </a:solidFill>
              </a:defRPr>
            </a:pPr>
            <a:r>
              <a:t>TOP CUSTOMER</a:t>
            </a:r>
          </a:p>
          <a:p>
            <a:pPr>
              <a:defRPr sz="2200" b="1">
                <a:solidFill>
                  <a:srgbClr val="376092"/>
                </a:solidFill>
              </a:defRPr>
            </a:pPr>
            <a:r>
              <a:t>KARL SEAL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371600"/>
            <a:ext cx="246888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sz="1100" b="1">
                <a:solidFill>
                  <a:srgbClr val="5F6973"/>
                </a:solidFill>
              </a:defRPr>
            </a:pPr>
            <a:r>
              <a:t>NEVER-RENTED FILMS</a:t>
            </a:r>
          </a:p>
          <a:p>
            <a:pPr>
              <a:defRPr sz="2200" b="1">
                <a:solidFill>
                  <a:srgbClr val="376092"/>
                </a:solidFill>
              </a:defRPr>
            </a:pPr>
            <a:r>
              <a:t>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2626"/>
                </a:solidFill>
              </a:defRPr>
            </a:pPr>
            <a:r>
              <a:t>Analyzed customer spending and identified customers above the average spend.</a:t>
            </a:r>
          </a:p>
          <a:p>
            <a:pPr>
              <a:spcAft>
                <a:spcPts val="1000"/>
              </a:spcAft>
              <a:defRPr sz="1700">
                <a:solidFill>
                  <a:srgbClr val="262626"/>
                </a:solidFill>
              </a:defRPr>
            </a:pPr>
            <a:r>
              <a:t>Identified the most frequently rented films and the categories contributing most to revenue.</a:t>
            </a:r>
          </a:p>
          <a:p>
            <a:pPr>
              <a:spcAft>
                <a:spcPts val="1000"/>
              </a:spcAft>
              <a:defRPr sz="1700">
                <a:solidFill>
                  <a:srgbClr val="262626"/>
                </a:solidFill>
              </a:defRPr>
            </a:pPr>
            <a:r>
              <a:t>Examined films with no rental activity and staff transaction workload.</a:t>
            </a:r>
          </a:p>
          <a:p>
            <a:pPr>
              <a:spcAft>
                <a:spcPts val="1000"/>
              </a:spcAft>
              <a:defRPr sz="1700">
                <a:solidFill>
                  <a:srgbClr val="262626"/>
                </a:solidFill>
              </a:defRPr>
            </a:pPr>
            <a:r>
              <a:t>Ranked customers by lifetime value using total customer spending.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51"/>
                </a:solidFill>
              </a:defRPr>
            </a:pPr>
            <a:r>
              <a:t>Finding 1 — Rental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</a:defRPr>
            </a:pPr>
            <a:r>
              <a:t>Top 10 films by rental count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25880"/>
          <a:ext cx="6675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43800" y="1554480"/>
            <a:ext cx="3840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3751"/>
                </a:solidFill>
              </a:defRPr>
            </a:pPr>
            <a:r>
              <a:t>Key takeaway</a:t>
            </a:r>
          </a:p>
          <a:p>
            <a:pPr>
              <a:spcBef>
                <a:spcPts val="1200"/>
              </a:spcBef>
              <a:defRPr sz="2000" b="1">
                <a:solidFill>
                  <a:srgbClr val="262626"/>
                </a:solidFill>
              </a:defRPr>
            </a:pPr>
            <a:r>
              <a:t>BUCKET BROTHERHOOD is the most rented film with 34 rentals.</a:t>
            </a:r>
          </a:p>
          <a:p>
            <a:pPr>
              <a:spcBef>
                <a:spcPts val="1200"/>
              </a:spcBef>
              <a:defRPr sz="1600">
                <a:solidFill>
                  <a:srgbClr val="5F6973"/>
                </a:solidFill>
              </a:defRPr>
            </a:pPr>
            <a:r>
              <a:t>The top titles provide a clear view of which films are driving rental demand in the dataset.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51"/>
                </a:solidFill>
              </a:defRPr>
            </a:pPr>
            <a:r>
              <a:t>Finding 2 — Revenue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</a:defRPr>
            </a:pPr>
            <a:r>
              <a:t>Pareto view of category revenue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25880"/>
          <a:ext cx="67665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89520" y="1508760"/>
            <a:ext cx="374903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3751"/>
                </a:solidFill>
              </a:defRPr>
            </a:pPr>
            <a:r>
              <a:t>Key takeaway</a:t>
            </a:r>
          </a:p>
          <a:p>
            <a:pPr>
              <a:spcBef>
                <a:spcPts val="1200"/>
              </a:spcBef>
              <a:defRPr sz="1900" b="1">
                <a:solidFill>
                  <a:srgbClr val="262626"/>
                </a:solidFill>
              </a:defRPr>
            </a:pPr>
            <a:r>
              <a:t>Sports is the highest-revenue category, contributing 7.88% of total revenue.</a:t>
            </a:r>
          </a:p>
          <a:p>
            <a:pPr>
              <a:spcBef>
                <a:spcPts val="1200"/>
              </a:spcBef>
              <a:defRPr sz="1600">
                <a:solidFill>
                  <a:srgbClr val="5F6973"/>
                </a:solidFill>
              </a:defRPr>
            </a:pPr>
            <a:r>
              <a:t>Total store revenue: $67,406.56.</a:t>
            </a:r>
          </a:p>
          <a:p>
            <a:pPr>
              <a:spcBef>
                <a:spcPts val="1200"/>
              </a:spcBef>
              <a:defRPr sz="1600">
                <a:solidFill>
                  <a:srgbClr val="5F6973"/>
                </a:solidFill>
              </a:defRPr>
            </a:pPr>
            <a:r>
              <a:t>The cumulative category contribution reaches 100% across all 16 categories.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51"/>
                </a:solidFill>
              </a:defRPr>
            </a:pPr>
            <a:r>
              <a:t>Findings 3–5 — Customers, Inventory &amp;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38328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sz="1100" b="1">
                <a:solidFill>
                  <a:srgbClr val="5F6973"/>
                </a:solidFill>
              </a:defRPr>
            </a:pPr>
            <a:r>
              <a:t>TOP CUSTOMER — LIFETIME VALUE</a:t>
            </a:r>
          </a:p>
          <a:p>
            <a:pPr>
              <a:defRPr sz="2200" b="1">
                <a:solidFill>
                  <a:srgbClr val="376092"/>
                </a:solidFill>
              </a:defRPr>
            </a:pPr>
            <a:r>
              <a:t>KARL SEAL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25880"/>
            <a:ext cx="338328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sz="1100" b="1">
                <a:solidFill>
                  <a:srgbClr val="5F6973"/>
                </a:solidFill>
              </a:defRPr>
            </a:pPr>
            <a:r>
              <a:t>TOP CUSTOMER SPEND</a:t>
            </a:r>
          </a:p>
          <a:p>
            <a:pPr>
              <a:defRPr sz="2200" b="1">
                <a:solidFill>
                  <a:srgbClr val="376092"/>
                </a:solidFill>
              </a:defRPr>
            </a:pPr>
            <a:r>
              <a:t>$221.55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325880"/>
            <a:ext cx="338328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sz="1100" b="1">
                <a:solidFill>
                  <a:srgbClr val="5F6973"/>
                </a:solidFill>
              </a:defRPr>
            </a:pPr>
            <a:r>
              <a:t>HIGHEST STAFF TRANSACTIONS</a:t>
            </a:r>
          </a:p>
          <a:p>
            <a:pPr>
              <a:defRPr sz="2200" b="1">
                <a:solidFill>
                  <a:srgbClr val="376092"/>
                </a:solidFill>
              </a:defRPr>
            </a:pPr>
            <a:r>
              <a:t>8,054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62626"/>
                </a:solidFill>
              </a:defRPr>
            </a:pPr>
            <a:r>
              <a:t>KARL SEAL ranks #1 in customer lifetime value with total spending of $221.55.</a:t>
            </a:r>
          </a:p>
          <a:p>
            <a:pPr>
              <a:spcAft>
                <a:spcPts val="1000"/>
              </a:spcAft>
              <a:defRPr sz="1800">
                <a:solidFill>
                  <a:srgbClr val="262626"/>
                </a:solidFill>
              </a:defRPr>
            </a:pPr>
            <a:r>
              <a:t>42 films in the dataset have no rental records, identifying titles with no observed rental activity.</a:t>
            </a:r>
          </a:p>
          <a:p>
            <a:pPr>
              <a:spcAft>
                <a:spcPts val="1000"/>
              </a:spcAft>
              <a:defRPr sz="1800">
                <a:solidFill>
                  <a:srgbClr val="262626"/>
                </a:solidFill>
              </a:defRPr>
            </a:pPr>
            <a:r>
              <a:t>Mike Hillyer handled 8,054 rental transactions, the highest workload result in the Q6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Top 5 Findings —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</a:defRPr>
            </a:pPr>
            <a:r>
              <a:t>1. BUCKET BROTHERHOOD leads rental demand with 34 rentals.</a:t>
            </a:r>
          </a:p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</a:defRPr>
            </a:pPr>
            <a:r>
              <a:t>2. Sports is the top revenue category at 7.88% contribution.</a:t>
            </a:r>
          </a:p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</a:defRPr>
            </a:pPr>
            <a:r>
              <a:t>3. 42 films have no rental records in the dataset.</a:t>
            </a:r>
          </a:p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</a:defRPr>
            </a:pPr>
            <a:r>
              <a:t>4. KARL SEAL has the highest customer lifetime value at $221.55.</a:t>
            </a:r>
          </a:p>
          <a:p>
            <a:pPr>
              <a:spcAft>
                <a:spcPts val="1000"/>
              </a:spcAft>
              <a:defRPr sz="2000">
                <a:solidFill>
                  <a:srgbClr val="262626"/>
                </a:solidFill>
              </a:defRPr>
            </a:pPr>
            <a:r>
              <a:t>5. Mike Hillyer recorded the highest staff transaction workload with 8,054 transactions.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1500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2DCE6"/>
                </a:solidFill>
              </a:defRPr>
            </a:pPr>
            <a:r>
              <a:t>The analysis connects rental demand, revenue mix, customer value, inventory activity, and operational workload.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